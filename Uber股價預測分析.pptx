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4AA68D-B4C5-45EA-D82B-24109A2AF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598"/>
            <a:ext cx="8915399" cy="2262781"/>
          </a:xfrm>
        </p:spPr>
        <p:txBody>
          <a:bodyPr/>
          <a:lstStyle/>
          <a:p>
            <a:r>
              <a:rPr lang="en-US" altLang="zh-TW" dirty="0"/>
              <a:t>Uber</a:t>
            </a:r>
            <a:r>
              <a:rPr lang="zh-TW" altLang="en-US" dirty="0"/>
              <a:t>股價預測分析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9CC38D1-4BDE-29B8-FADF-F4017602B3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5199" y="4777379"/>
            <a:ext cx="8915399" cy="1126283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Regression Model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084842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828F23-7B0D-555B-E5F7-9263D32CF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8280" y="1217366"/>
            <a:ext cx="8911687" cy="1280890"/>
          </a:xfrm>
        </p:spPr>
        <p:txBody>
          <a:bodyPr/>
          <a:lstStyle/>
          <a:p>
            <a:r>
              <a:rPr lang="zh-TW" altLang="en-US" dirty="0"/>
              <a:t>專案背景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9BD68B-C8C6-492C-BE4B-13A7A43A7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本專案透過歷史股價資料進行分析</a:t>
            </a:r>
            <a:endParaRPr lang="en-US" altLang="zh-TW" dirty="0"/>
          </a:p>
          <a:p>
            <a:r>
              <a:rPr lang="zh-TW" altLang="en-US" dirty="0"/>
              <a:t>建立回歸模型預測未來價格趨勢</a:t>
            </a:r>
            <a:endParaRPr lang="en-US" altLang="zh-TW" dirty="0"/>
          </a:p>
          <a:p>
            <a:r>
              <a:rPr lang="zh-TW" altLang="en-US" dirty="0"/>
              <a:t>探討影響股價變動之關鍵因素</a:t>
            </a:r>
            <a:endParaRPr lang="en-US" altLang="zh-TW" dirty="0"/>
          </a:p>
          <a:p>
            <a:r>
              <a:rPr lang="zh-TW" altLang="en-US" dirty="0"/>
              <a:t>協助提升數據分析與預測能力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42227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AB761E-4BC7-3F8B-64E6-9E5591C1B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568" y="1146624"/>
            <a:ext cx="8911687" cy="1280890"/>
          </a:xfrm>
        </p:spPr>
        <p:txBody>
          <a:bodyPr/>
          <a:lstStyle/>
          <a:p>
            <a:r>
              <a:rPr lang="zh-TW" altLang="en-US" dirty="0"/>
              <a:t>資料來源與內容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A8BCAD-662D-B261-5A31-F173460D6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015273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內容：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dirty="0"/>
              <a:t>資料來源：</a:t>
            </a:r>
            <a:r>
              <a:rPr lang="en-US" altLang="zh-TW" dirty="0"/>
              <a:t>Kaggle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dirty="0"/>
              <a:t>資料期間：</a:t>
            </a:r>
            <a:r>
              <a:rPr lang="en-US" altLang="zh-TW" dirty="0"/>
              <a:t>2024 – 2025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altLang="zh-TW" dirty="0"/>
          </a:p>
          <a:p>
            <a:pPr lvl="1">
              <a:buFont typeface="Wingdings" panose="05000000000000000000" pitchFamily="2" charset="2"/>
              <a:buChar char="Ø"/>
            </a:pPr>
            <a:endParaRPr lang="en-US" altLang="zh-TW" dirty="0"/>
          </a:p>
          <a:p>
            <a:r>
              <a:rPr lang="zh-TW" altLang="en-US" dirty="0"/>
              <a:t>欄位包含：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dirty="0"/>
              <a:t>開盤價（</a:t>
            </a:r>
            <a:r>
              <a:rPr lang="en-US" altLang="zh-TW" dirty="0"/>
              <a:t>Open</a:t>
            </a:r>
            <a:r>
              <a:rPr lang="zh-TW" altLang="en-US" dirty="0"/>
              <a:t>）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dirty="0"/>
              <a:t>收盤價（</a:t>
            </a:r>
            <a:r>
              <a:rPr lang="en-US" altLang="zh-TW" dirty="0"/>
              <a:t>Close</a:t>
            </a:r>
            <a:r>
              <a:rPr lang="zh-TW" altLang="en-US" dirty="0"/>
              <a:t>）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dirty="0"/>
              <a:t>最高價（</a:t>
            </a:r>
            <a:r>
              <a:rPr lang="en-US" altLang="zh-TW" dirty="0"/>
              <a:t>High</a:t>
            </a:r>
            <a:r>
              <a:rPr lang="zh-TW" altLang="en-US" dirty="0"/>
              <a:t>）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dirty="0"/>
              <a:t>最低價（</a:t>
            </a:r>
            <a:r>
              <a:rPr lang="en-US" altLang="zh-TW" dirty="0"/>
              <a:t>Low</a:t>
            </a:r>
            <a:r>
              <a:rPr lang="zh-TW" altLang="en-US" dirty="0"/>
              <a:t>）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dirty="0"/>
              <a:t>成交量（</a:t>
            </a:r>
            <a:r>
              <a:rPr lang="en-US" altLang="zh-TW" dirty="0"/>
              <a:t>Volume</a:t>
            </a:r>
            <a:r>
              <a:rPr lang="zh-TW" altLang="en-US" dirty="0"/>
              <a:t>）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17003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82A25C-05F7-D7DC-F324-D065D1E94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949" y="1221269"/>
            <a:ext cx="8911687" cy="1280890"/>
          </a:xfrm>
        </p:spPr>
        <p:txBody>
          <a:bodyPr/>
          <a:lstStyle/>
          <a:p>
            <a:r>
              <a:rPr lang="zh-TW" altLang="en-US" dirty="0"/>
              <a:t>資料前處理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84311A-97AF-E2F3-D304-309CEBA6C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 </a:t>
            </a:r>
            <a:r>
              <a:rPr lang="en-US" altLang="zh-TW" dirty="0"/>
              <a:t>pandas </a:t>
            </a:r>
            <a:r>
              <a:rPr lang="zh-TW" altLang="en-US" dirty="0"/>
              <a:t>進行資料清洗與整理</a:t>
            </a:r>
            <a:endParaRPr lang="en-US" altLang="zh-TW" dirty="0"/>
          </a:p>
          <a:p>
            <a:r>
              <a:rPr lang="zh-TW" altLang="en-US" dirty="0"/>
              <a:t>處理缺失值與異常值</a:t>
            </a:r>
            <a:endParaRPr lang="en-US" altLang="zh-TW" dirty="0"/>
          </a:p>
          <a:p>
            <a:r>
              <a:rPr lang="zh-TW" altLang="en-US" dirty="0"/>
              <a:t>轉換資料格式（日期、數值）</a:t>
            </a:r>
            <a:endParaRPr lang="en-US" altLang="zh-TW" dirty="0"/>
          </a:p>
          <a:p>
            <a:r>
              <a:rPr lang="zh-TW" altLang="en-US" dirty="0"/>
              <a:t>建立特徵變數（如移動平均）</a:t>
            </a:r>
            <a:endParaRPr lang="en-US" altLang="zh-TW" dirty="0"/>
          </a:p>
          <a:p>
            <a:r>
              <a:rPr lang="zh-TW" altLang="en-US" dirty="0"/>
              <a:t>確保資料可用於模型訓練</a:t>
            </a:r>
          </a:p>
        </p:txBody>
      </p:sp>
    </p:spTree>
    <p:extLst>
      <p:ext uri="{BB962C8B-B14F-4D97-AF65-F5344CB8AC3E}">
        <p14:creationId xmlns:p14="http://schemas.microsoft.com/office/powerpoint/2010/main" val="2891208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9612EF-CBD0-AFBB-8A96-5F11BF0DC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974" y="1211939"/>
            <a:ext cx="8911687" cy="1280890"/>
          </a:xfrm>
        </p:spPr>
        <p:txBody>
          <a:bodyPr/>
          <a:lstStyle/>
          <a:p>
            <a:r>
              <a:rPr lang="zh-TW" altLang="en-US" dirty="0"/>
              <a:t>模型建立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7D5F93-302F-5B84-142B-ABDE75116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使用線性回歸模型進行預測分析</a:t>
            </a:r>
            <a:endParaRPr lang="en-US" altLang="zh-TW" dirty="0"/>
          </a:p>
          <a:p>
            <a:r>
              <a:rPr lang="zh-TW" altLang="en-US" dirty="0"/>
              <a:t>將資料分為訓練集與測試集</a:t>
            </a:r>
            <a:endParaRPr lang="en-US" altLang="zh-TW" dirty="0"/>
          </a:p>
          <a:p>
            <a:r>
              <a:rPr lang="zh-TW" altLang="en-US" dirty="0"/>
              <a:t>使用 </a:t>
            </a:r>
            <a:r>
              <a:rPr lang="en-US" altLang="zh-TW" dirty="0"/>
              <a:t>scikit-learn </a:t>
            </a:r>
            <a:r>
              <a:rPr lang="zh-TW" altLang="en-US" dirty="0"/>
              <a:t>建立模型</a:t>
            </a:r>
            <a:endParaRPr lang="en-US" altLang="zh-TW" dirty="0"/>
          </a:p>
          <a:p>
            <a:r>
              <a:rPr lang="zh-TW" altLang="en-US" dirty="0"/>
              <a:t>進行模型訓練與預測</a:t>
            </a:r>
          </a:p>
        </p:txBody>
      </p:sp>
    </p:spTree>
    <p:extLst>
      <p:ext uri="{BB962C8B-B14F-4D97-AF65-F5344CB8AC3E}">
        <p14:creationId xmlns:p14="http://schemas.microsoft.com/office/powerpoint/2010/main" val="2420648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6D6E3F-673C-A401-C58D-55262B5FC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44190"/>
            <a:ext cx="8911687" cy="1280890"/>
          </a:xfrm>
        </p:spPr>
        <p:txBody>
          <a:bodyPr/>
          <a:lstStyle/>
          <a:p>
            <a:r>
              <a:rPr lang="zh-TW" altLang="en-US" dirty="0"/>
              <a:t>分析結果</a:t>
            </a:r>
            <a:r>
              <a:rPr lang="en-US" altLang="zh-TW" dirty="0"/>
              <a:t>-</a:t>
            </a:r>
            <a:r>
              <a:rPr lang="zh-TW" altLang="en-US" dirty="0"/>
              <a:t>開盤價</a:t>
            </a:r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87EFF961-87EE-9E99-9AF7-A401F382C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4160" y="984635"/>
            <a:ext cx="4497341" cy="1888811"/>
          </a:xfrm>
        </p:spPr>
        <p:txBody>
          <a:bodyPr>
            <a:noAutofit/>
          </a:bodyPr>
          <a:lstStyle/>
          <a:p>
            <a:pPr>
              <a:buClr>
                <a:srgbClr val="0070C0"/>
              </a:buClr>
            </a:pPr>
            <a:r>
              <a:rPr lang="zh-TW" altLang="en-US" sz="1400" dirty="0"/>
              <a:t>趨勢</a:t>
            </a:r>
            <a:endParaRPr lang="en-US" altLang="zh-TW" sz="1400" dirty="0"/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TW" altLang="en-US" sz="1400" dirty="0"/>
              <a:t>年初開盤價約 </a:t>
            </a:r>
            <a:r>
              <a:rPr lang="en-US" altLang="zh-TW" sz="1400" dirty="0"/>
              <a:t>58 USD</a:t>
            </a:r>
            <a:r>
              <a:rPr lang="zh-TW" altLang="en-US" sz="1400" dirty="0"/>
              <a:t>，整體呈現上升趨勢</a:t>
            </a:r>
            <a:endParaRPr lang="en-US" altLang="zh-TW" sz="1400" dirty="0"/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TW" sz="1400" dirty="0"/>
              <a:t>3 </a:t>
            </a:r>
            <a:r>
              <a:rPr lang="zh-TW" altLang="en-US" sz="1400" dirty="0"/>
              <a:t>月出現第一波高點約 </a:t>
            </a:r>
            <a:r>
              <a:rPr lang="en-US" altLang="zh-TW" sz="1400" dirty="0"/>
              <a:t>80 USD</a:t>
            </a:r>
            <a:r>
              <a:rPr lang="zh-TW" altLang="en-US" sz="1400" dirty="0"/>
              <a:t>，反映短期市場情緒推升</a:t>
            </a:r>
            <a:endParaRPr lang="en-US" altLang="zh-TW" sz="1400" dirty="0"/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TW" sz="1400" dirty="0"/>
              <a:t>10 </a:t>
            </a:r>
            <a:r>
              <a:rPr lang="zh-TW" altLang="en-US" sz="1400" dirty="0"/>
              <a:t>月達全年高點約 </a:t>
            </a:r>
            <a:r>
              <a:rPr lang="en-US" altLang="zh-TW" sz="1400" dirty="0"/>
              <a:t>85 USD</a:t>
            </a:r>
            <a:r>
              <a:rPr lang="zh-TW" altLang="en-US" sz="1400" dirty="0"/>
              <a:t>，顯示中期動能再度轉強年</a:t>
            </a:r>
            <a:endParaRPr lang="en-US" altLang="zh-TW" sz="1400" dirty="0"/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TW" altLang="en-US" sz="1400" dirty="0"/>
              <a:t>末回落至約 </a:t>
            </a:r>
            <a:r>
              <a:rPr lang="en-US" altLang="zh-TW" sz="1400" dirty="0"/>
              <a:t>65–70 USD </a:t>
            </a:r>
            <a:r>
              <a:rPr lang="zh-TW" altLang="en-US" sz="1400" dirty="0"/>
              <a:t>區間，趨勢轉為震盪整理</a:t>
            </a:r>
            <a:endParaRPr lang="en-US" altLang="zh-TW" sz="1400" dirty="0"/>
          </a:p>
        </p:txBody>
      </p:sp>
      <p:pic>
        <p:nvPicPr>
          <p:cNvPr id="2055" name="Picture 7">
            <a:extLst>
              <a:ext uri="{FF2B5EF4-FFF2-40B4-BE49-F238E27FC236}">
                <a16:creationId xmlns:a16="http://schemas.microsoft.com/office/drawing/2014/main" id="{872BAC0F-2B73-2343-64BB-43E0A640A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925" y="984635"/>
            <a:ext cx="4048125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內容版面配置區 7">
            <a:extLst>
              <a:ext uri="{FF2B5EF4-FFF2-40B4-BE49-F238E27FC236}">
                <a16:creationId xmlns:a16="http://schemas.microsoft.com/office/drawing/2014/main" id="{26D9E4F7-E665-7F21-79F8-CEDDAE45DB1A}"/>
              </a:ext>
            </a:extLst>
          </p:cNvPr>
          <p:cNvSpPr txBox="1">
            <a:spLocks/>
          </p:cNvSpPr>
          <p:nvPr/>
        </p:nvSpPr>
        <p:spPr>
          <a:xfrm>
            <a:off x="2527610" y="4572124"/>
            <a:ext cx="5076839" cy="1888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B050"/>
              </a:buClr>
            </a:pPr>
            <a:r>
              <a:rPr lang="zh-TW" altLang="en-US" sz="1400" dirty="0"/>
              <a:t>結論</a:t>
            </a:r>
            <a:endParaRPr lang="en-US" altLang="zh-TW" sz="1400" dirty="0"/>
          </a:p>
          <a:p>
            <a:pPr lvl="1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TW" altLang="en-US" sz="1400" dirty="0"/>
              <a:t>該標的呈現長期上升趨勢，但伴隨明顯區間震盪</a:t>
            </a:r>
            <a:endParaRPr lang="en-US" altLang="zh-TW" sz="1400" dirty="0"/>
          </a:p>
          <a:p>
            <a:pPr lvl="1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TW" altLang="en-US" sz="1400" dirty="0"/>
              <a:t>屬於「趨勢型 </a:t>
            </a:r>
            <a:r>
              <a:rPr lang="en-US" altLang="zh-TW" sz="1400" dirty="0"/>
              <a:t>+ </a:t>
            </a:r>
            <a:r>
              <a:rPr lang="zh-TW" altLang="en-US" sz="1400" dirty="0"/>
              <a:t>波動型並存市場」</a:t>
            </a:r>
            <a:endParaRPr lang="en-US" altLang="zh-TW" sz="1400" dirty="0"/>
          </a:p>
        </p:txBody>
      </p:sp>
      <p:sp>
        <p:nvSpPr>
          <p:cNvPr id="11" name="內容版面配置區 7">
            <a:extLst>
              <a:ext uri="{FF2B5EF4-FFF2-40B4-BE49-F238E27FC236}">
                <a16:creationId xmlns:a16="http://schemas.microsoft.com/office/drawing/2014/main" id="{C3E73EAC-7E21-189A-AB71-54C8631AF3FB}"/>
              </a:ext>
            </a:extLst>
          </p:cNvPr>
          <p:cNvSpPr txBox="1">
            <a:spLocks/>
          </p:cNvSpPr>
          <p:nvPr/>
        </p:nvSpPr>
        <p:spPr>
          <a:xfrm>
            <a:off x="7048768" y="3345404"/>
            <a:ext cx="4344940" cy="18888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dirty="0"/>
              <a:t>波動</a:t>
            </a:r>
            <a:endParaRPr lang="en-US" altLang="zh-TW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sz="1400" dirty="0"/>
              <a:t>股價主要落在 </a:t>
            </a:r>
            <a:r>
              <a:rPr lang="en-US" altLang="zh-TW" sz="1400" dirty="0"/>
              <a:t>60–85 USD </a:t>
            </a:r>
            <a:r>
              <a:rPr lang="zh-TW" altLang="en-US" sz="1400" dirty="0"/>
              <a:t>區間震盪</a:t>
            </a:r>
            <a:endParaRPr lang="en-US" altLang="zh-TW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1400" dirty="0"/>
              <a:t>7–8 </a:t>
            </a:r>
            <a:r>
              <a:rPr lang="zh-TW" altLang="en-US" sz="1400" dirty="0"/>
              <a:t>月出現明顯短期急跌，可能受市場不確定性或事件性因素影響</a:t>
            </a:r>
            <a:endParaRPr lang="en-US" altLang="zh-TW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sz="1400" dirty="0"/>
              <a:t>整體呈現「趨勢上升 </a:t>
            </a:r>
            <a:r>
              <a:rPr lang="en-US" altLang="zh-TW" sz="1400" dirty="0"/>
              <a:t>+ </a:t>
            </a:r>
            <a:r>
              <a:rPr lang="zh-TW" altLang="en-US" sz="1400" dirty="0"/>
              <a:t>高波動並存」特性</a:t>
            </a:r>
            <a:endParaRPr lang="en-US" altLang="zh-TW" sz="1400" dirty="0"/>
          </a:p>
        </p:txBody>
      </p:sp>
    </p:spTree>
    <p:extLst>
      <p:ext uri="{BB962C8B-B14F-4D97-AF65-F5344CB8AC3E}">
        <p14:creationId xmlns:p14="http://schemas.microsoft.com/office/powerpoint/2010/main" val="4124264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6D6E3F-673C-A401-C58D-55262B5FC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44190"/>
            <a:ext cx="8911687" cy="1280890"/>
          </a:xfrm>
        </p:spPr>
        <p:txBody>
          <a:bodyPr/>
          <a:lstStyle/>
          <a:p>
            <a:r>
              <a:rPr lang="zh-TW" altLang="en-US" dirty="0"/>
              <a:t>分析結果</a:t>
            </a:r>
            <a:r>
              <a:rPr lang="en-US" altLang="zh-TW" dirty="0"/>
              <a:t>-K </a:t>
            </a:r>
            <a:r>
              <a:rPr lang="zh-TW" altLang="en-US" dirty="0"/>
              <a:t>線圖 </a:t>
            </a:r>
            <a:r>
              <a:rPr lang="en-US" altLang="zh-TW" dirty="0"/>
              <a:t>/ </a:t>
            </a:r>
            <a:r>
              <a:rPr lang="zh-TW" altLang="en-US" dirty="0"/>
              <a:t>均線  </a:t>
            </a:r>
            <a:r>
              <a:rPr lang="en-US" altLang="zh-TW" dirty="0"/>
              <a:t>/  </a:t>
            </a:r>
            <a:r>
              <a:rPr lang="zh-TW" altLang="en-US" dirty="0"/>
              <a:t>成交量 </a:t>
            </a:r>
            <a:br>
              <a:rPr lang="zh-TW" altLang="en-US" dirty="0"/>
            </a:br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87EFF961-87EE-9E99-9AF7-A401F382C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8768" y="998193"/>
            <a:ext cx="4497341" cy="1888811"/>
          </a:xfrm>
        </p:spPr>
        <p:txBody>
          <a:bodyPr>
            <a:noAutofit/>
          </a:bodyPr>
          <a:lstStyle/>
          <a:p>
            <a:pPr>
              <a:buClr>
                <a:srgbClr val="0070C0"/>
              </a:buClr>
            </a:pPr>
            <a:r>
              <a:rPr lang="zh-TW" altLang="en-US" sz="1400" dirty="0"/>
              <a:t>趨勢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TW" altLang="en-US" sz="1400" dirty="0"/>
              <a:t>年初開盤價約 </a:t>
            </a:r>
            <a:r>
              <a:rPr lang="en-US" altLang="zh-TW" sz="1400" dirty="0"/>
              <a:t>58 USD</a:t>
            </a:r>
            <a:r>
              <a:rPr lang="zh-TW" altLang="en-US" sz="1400" dirty="0"/>
              <a:t>，整體呈現上升趨勢</a:t>
            </a:r>
            <a:endParaRPr lang="en-US" altLang="zh-TW" sz="1400" dirty="0"/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TW" sz="1400" dirty="0"/>
              <a:t>3 </a:t>
            </a:r>
            <a:r>
              <a:rPr lang="zh-TW" altLang="en-US" sz="1400" dirty="0"/>
              <a:t>月出現第一波高點約 </a:t>
            </a:r>
            <a:r>
              <a:rPr lang="en-US" altLang="zh-TW" sz="1400" dirty="0"/>
              <a:t>80 USD</a:t>
            </a:r>
            <a:r>
              <a:rPr lang="zh-TW" altLang="en-US" sz="1400" dirty="0"/>
              <a:t>，反映短期市場情緒推升</a:t>
            </a:r>
            <a:endParaRPr lang="en-US" altLang="zh-TW" sz="1400" dirty="0"/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TW" sz="1400" dirty="0"/>
              <a:t>10 </a:t>
            </a:r>
            <a:r>
              <a:rPr lang="zh-TW" altLang="en-US" sz="1400" dirty="0"/>
              <a:t>月達全年高點約 </a:t>
            </a:r>
            <a:r>
              <a:rPr lang="en-US" altLang="zh-TW" sz="1400" dirty="0"/>
              <a:t>85 USD</a:t>
            </a:r>
            <a:r>
              <a:rPr lang="zh-TW" altLang="en-US" sz="1400" dirty="0"/>
              <a:t>，顯示中期動能再度轉強年</a:t>
            </a:r>
            <a:endParaRPr lang="en-US" altLang="zh-TW" sz="1400" dirty="0"/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TW" altLang="en-US" sz="1400" dirty="0"/>
              <a:t>末回落至約 </a:t>
            </a:r>
            <a:r>
              <a:rPr lang="en-US" altLang="zh-TW" sz="1400" dirty="0"/>
              <a:t>65–70 USD </a:t>
            </a:r>
            <a:r>
              <a:rPr lang="zh-TW" altLang="en-US" sz="1400" dirty="0"/>
              <a:t>區間，趨勢轉為震盪整理</a:t>
            </a:r>
            <a:endParaRPr lang="en-US" altLang="zh-TW" sz="1400" dirty="0"/>
          </a:p>
        </p:txBody>
      </p:sp>
      <p:sp>
        <p:nvSpPr>
          <p:cNvPr id="10" name="內容版面配置區 7">
            <a:extLst>
              <a:ext uri="{FF2B5EF4-FFF2-40B4-BE49-F238E27FC236}">
                <a16:creationId xmlns:a16="http://schemas.microsoft.com/office/drawing/2014/main" id="{26D9E4F7-E665-7F21-79F8-CEDDAE45DB1A}"/>
              </a:ext>
            </a:extLst>
          </p:cNvPr>
          <p:cNvSpPr txBox="1">
            <a:spLocks/>
          </p:cNvSpPr>
          <p:nvPr/>
        </p:nvSpPr>
        <p:spPr>
          <a:xfrm>
            <a:off x="2098620" y="3984554"/>
            <a:ext cx="5076839" cy="1888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B050"/>
              </a:buClr>
            </a:pPr>
            <a:r>
              <a:rPr lang="zh-TW" altLang="en-US" sz="1400" dirty="0"/>
              <a:t>結論</a:t>
            </a:r>
            <a:endParaRPr lang="en-US" altLang="zh-TW" sz="1400" dirty="0"/>
          </a:p>
          <a:p>
            <a:pPr lvl="1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TW" altLang="en-US" sz="1400" dirty="0"/>
              <a:t>該標的呈現長期上升趨勢，但伴隨明顯區間震盪</a:t>
            </a:r>
            <a:endParaRPr lang="en-US" altLang="zh-TW" sz="1400" dirty="0"/>
          </a:p>
          <a:p>
            <a:pPr lvl="1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TW" altLang="en-US" sz="1400" dirty="0"/>
              <a:t>屬於「趨勢型 </a:t>
            </a:r>
            <a:r>
              <a:rPr lang="en-US" altLang="zh-TW" sz="1400" dirty="0"/>
              <a:t>+ </a:t>
            </a:r>
            <a:r>
              <a:rPr lang="zh-TW" altLang="en-US" sz="1400" dirty="0"/>
              <a:t>波動型並存市場」</a:t>
            </a:r>
            <a:endParaRPr lang="en-US" altLang="zh-TW" sz="1400" dirty="0"/>
          </a:p>
        </p:txBody>
      </p:sp>
      <p:sp>
        <p:nvSpPr>
          <p:cNvPr id="11" name="內容版面配置區 7">
            <a:extLst>
              <a:ext uri="{FF2B5EF4-FFF2-40B4-BE49-F238E27FC236}">
                <a16:creationId xmlns:a16="http://schemas.microsoft.com/office/drawing/2014/main" id="{C3E73EAC-7E21-189A-AB71-54C8631AF3FB}"/>
              </a:ext>
            </a:extLst>
          </p:cNvPr>
          <p:cNvSpPr txBox="1">
            <a:spLocks/>
          </p:cNvSpPr>
          <p:nvPr/>
        </p:nvSpPr>
        <p:spPr>
          <a:xfrm>
            <a:off x="7159672" y="3417502"/>
            <a:ext cx="4344940" cy="18888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dirty="0"/>
              <a:t>波動</a:t>
            </a:r>
            <a:endParaRPr lang="en-US" altLang="zh-TW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sz="1400" dirty="0"/>
              <a:t>股價主要落在 </a:t>
            </a:r>
            <a:r>
              <a:rPr lang="en-US" altLang="zh-TW" sz="1400" dirty="0"/>
              <a:t>60–85 USD </a:t>
            </a:r>
            <a:r>
              <a:rPr lang="zh-TW" altLang="en-US" sz="1400" dirty="0"/>
              <a:t>區間震盪</a:t>
            </a:r>
            <a:endParaRPr lang="en-US" altLang="zh-TW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1400" dirty="0"/>
              <a:t>7–8 </a:t>
            </a:r>
            <a:r>
              <a:rPr lang="zh-TW" altLang="en-US" sz="1400" dirty="0"/>
              <a:t>月出現明顯短期急跌，可能受市場不確定性或事件性因素影響</a:t>
            </a:r>
            <a:endParaRPr lang="en-US" altLang="zh-TW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sz="1400" dirty="0"/>
              <a:t>整體呈現「趨勢上升 </a:t>
            </a:r>
            <a:r>
              <a:rPr lang="en-US" altLang="zh-TW" sz="1400" dirty="0"/>
              <a:t>+ </a:t>
            </a:r>
            <a:r>
              <a:rPr lang="zh-TW" altLang="en-US" sz="1400" dirty="0"/>
              <a:t>高波動並存」特性</a:t>
            </a:r>
            <a:endParaRPr lang="en-US" altLang="zh-TW" sz="14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EF81EEC-E3CF-FC21-5159-354619E1F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620" y="984635"/>
            <a:ext cx="4950148" cy="2769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314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6D6E3F-673C-A401-C58D-55262B5FC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44190"/>
            <a:ext cx="8911687" cy="1280890"/>
          </a:xfrm>
        </p:spPr>
        <p:txBody>
          <a:bodyPr/>
          <a:lstStyle/>
          <a:p>
            <a:r>
              <a:rPr lang="zh-TW" altLang="en-US" dirty="0"/>
              <a:t>分析結果</a:t>
            </a:r>
            <a:r>
              <a:rPr lang="en-US" altLang="zh-TW" dirty="0"/>
              <a:t>-</a:t>
            </a:r>
            <a:r>
              <a:rPr lang="zh-TW" altLang="en-US" dirty="0"/>
              <a:t>盒鬚圖</a:t>
            </a:r>
            <a:br>
              <a:rPr lang="zh-TW" altLang="en-US" dirty="0"/>
            </a:br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87EFF961-87EE-9E99-9AF7-A401F382C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8768" y="998193"/>
            <a:ext cx="4497341" cy="1888811"/>
          </a:xfrm>
        </p:spPr>
        <p:txBody>
          <a:bodyPr>
            <a:noAutofit/>
          </a:bodyPr>
          <a:lstStyle/>
          <a:p>
            <a:pPr>
              <a:buClr>
                <a:srgbClr val="0070C0"/>
              </a:buClr>
            </a:pPr>
            <a:r>
              <a:rPr lang="zh-TW" altLang="en-US" sz="1400" dirty="0"/>
              <a:t>趨勢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TW" altLang="en-US" sz="1400" dirty="0"/>
              <a:t>年初開盤價約 </a:t>
            </a:r>
            <a:r>
              <a:rPr lang="en-US" altLang="zh-TW" sz="1400" dirty="0"/>
              <a:t>58 USD</a:t>
            </a:r>
            <a:r>
              <a:rPr lang="zh-TW" altLang="en-US" sz="1400" dirty="0"/>
              <a:t>，整體呈現上升趨勢</a:t>
            </a:r>
            <a:endParaRPr lang="en-US" altLang="zh-TW" sz="1400" dirty="0"/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TW" sz="1400" dirty="0"/>
              <a:t>3 </a:t>
            </a:r>
            <a:r>
              <a:rPr lang="zh-TW" altLang="en-US" sz="1400" dirty="0"/>
              <a:t>月出現第一波高點約 </a:t>
            </a:r>
            <a:r>
              <a:rPr lang="en-US" altLang="zh-TW" sz="1400" dirty="0"/>
              <a:t>80 USD</a:t>
            </a:r>
            <a:r>
              <a:rPr lang="zh-TW" altLang="en-US" sz="1400" dirty="0"/>
              <a:t>，反映短期市場情緒推升</a:t>
            </a:r>
            <a:endParaRPr lang="en-US" altLang="zh-TW" sz="1400" dirty="0"/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TW" sz="1400" dirty="0"/>
              <a:t>10 </a:t>
            </a:r>
            <a:r>
              <a:rPr lang="zh-TW" altLang="en-US" sz="1400" dirty="0"/>
              <a:t>月達全年高點約 </a:t>
            </a:r>
            <a:r>
              <a:rPr lang="en-US" altLang="zh-TW" sz="1400" dirty="0"/>
              <a:t>85 USD</a:t>
            </a:r>
            <a:r>
              <a:rPr lang="zh-TW" altLang="en-US" sz="1400" dirty="0"/>
              <a:t>，顯示中期動能再度轉強年</a:t>
            </a:r>
            <a:endParaRPr lang="en-US" altLang="zh-TW" sz="1400" dirty="0"/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TW" altLang="en-US" sz="1400" dirty="0"/>
              <a:t>末回落至約 </a:t>
            </a:r>
            <a:r>
              <a:rPr lang="en-US" altLang="zh-TW" sz="1400" dirty="0"/>
              <a:t>65–70 USD </a:t>
            </a:r>
            <a:r>
              <a:rPr lang="zh-TW" altLang="en-US" sz="1400" dirty="0"/>
              <a:t>區間，趨勢轉為震盪整理</a:t>
            </a:r>
            <a:endParaRPr lang="en-US" altLang="zh-TW" sz="1400" dirty="0"/>
          </a:p>
        </p:txBody>
      </p:sp>
      <p:sp>
        <p:nvSpPr>
          <p:cNvPr id="10" name="內容版面配置區 7">
            <a:extLst>
              <a:ext uri="{FF2B5EF4-FFF2-40B4-BE49-F238E27FC236}">
                <a16:creationId xmlns:a16="http://schemas.microsoft.com/office/drawing/2014/main" id="{26D9E4F7-E665-7F21-79F8-CEDDAE45DB1A}"/>
              </a:ext>
            </a:extLst>
          </p:cNvPr>
          <p:cNvSpPr txBox="1">
            <a:spLocks/>
          </p:cNvSpPr>
          <p:nvPr/>
        </p:nvSpPr>
        <p:spPr>
          <a:xfrm>
            <a:off x="2098620" y="3984554"/>
            <a:ext cx="5076839" cy="1888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B050"/>
              </a:buClr>
            </a:pPr>
            <a:r>
              <a:rPr lang="zh-TW" altLang="en-US" sz="1400" dirty="0"/>
              <a:t>結論</a:t>
            </a:r>
            <a:endParaRPr lang="en-US" altLang="zh-TW" sz="1400" dirty="0"/>
          </a:p>
          <a:p>
            <a:pPr lvl="1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TW" altLang="en-US" sz="1400" dirty="0"/>
              <a:t>該標的呈現長期上升趨勢，但伴隨明顯區間震盪</a:t>
            </a:r>
            <a:endParaRPr lang="en-US" altLang="zh-TW" sz="1400" dirty="0"/>
          </a:p>
          <a:p>
            <a:pPr lvl="1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TW" altLang="en-US" sz="1400" dirty="0"/>
              <a:t>屬於「趨勢型 </a:t>
            </a:r>
            <a:r>
              <a:rPr lang="en-US" altLang="zh-TW" sz="1400" dirty="0"/>
              <a:t>+ </a:t>
            </a:r>
            <a:r>
              <a:rPr lang="zh-TW" altLang="en-US" sz="1400" dirty="0"/>
              <a:t>波動型並存市場」</a:t>
            </a:r>
            <a:endParaRPr lang="en-US" altLang="zh-TW" sz="1400" dirty="0"/>
          </a:p>
        </p:txBody>
      </p:sp>
      <p:sp>
        <p:nvSpPr>
          <p:cNvPr id="11" name="內容版面配置區 7">
            <a:extLst>
              <a:ext uri="{FF2B5EF4-FFF2-40B4-BE49-F238E27FC236}">
                <a16:creationId xmlns:a16="http://schemas.microsoft.com/office/drawing/2014/main" id="{C3E73EAC-7E21-189A-AB71-54C8631AF3FB}"/>
              </a:ext>
            </a:extLst>
          </p:cNvPr>
          <p:cNvSpPr txBox="1">
            <a:spLocks/>
          </p:cNvSpPr>
          <p:nvPr/>
        </p:nvSpPr>
        <p:spPr>
          <a:xfrm>
            <a:off x="7159672" y="3417502"/>
            <a:ext cx="4344940" cy="18888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dirty="0"/>
              <a:t>波動</a:t>
            </a:r>
            <a:endParaRPr lang="en-US" altLang="zh-TW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sz="1400" dirty="0"/>
              <a:t>股價主要落在 </a:t>
            </a:r>
            <a:r>
              <a:rPr lang="en-US" altLang="zh-TW" sz="1400" dirty="0"/>
              <a:t>60–85 USD </a:t>
            </a:r>
            <a:r>
              <a:rPr lang="zh-TW" altLang="en-US" sz="1400" dirty="0"/>
              <a:t>區間震盪</a:t>
            </a:r>
            <a:endParaRPr lang="en-US" altLang="zh-TW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1400" dirty="0"/>
              <a:t>7–8 </a:t>
            </a:r>
            <a:r>
              <a:rPr lang="zh-TW" altLang="en-US" sz="1400" dirty="0"/>
              <a:t>月出現明顯短期急跌，可能受市場不確定性或事件性因素影響</a:t>
            </a:r>
            <a:endParaRPr lang="en-US" altLang="zh-TW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sz="1400" dirty="0"/>
              <a:t>整體呈現「趨勢上升 </a:t>
            </a:r>
            <a:r>
              <a:rPr lang="en-US" altLang="zh-TW" sz="1400" dirty="0"/>
              <a:t>+ </a:t>
            </a:r>
            <a:r>
              <a:rPr lang="zh-TW" altLang="en-US" sz="1400" dirty="0"/>
              <a:t>高波動並存」特性</a:t>
            </a:r>
            <a:endParaRPr lang="en-US" altLang="zh-TW" sz="14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1FA44E1-4220-C0C1-50DB-AC0E86B09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051" y="1176698"/>
            <a:ext cx="4450269" cy="2661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9272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6D6E3F-673C-A401-C58D-55262B5FC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44190"/>
            <a:ext cx="8911687" cy="1280890"/>
          </a:xfrm>
        </p:spPr>
        <p:txBody>
          <a:bodyPr/>
          <a:lstStyle/>
          <a:p>
            <a:r>
              <a:rPr lang="zh-TW" altLang="en-US" dirty="0"/>
              <a:t>分析結果</a:t>
            </a:r>
            <a:r>
              <a:rPr lang="en-US" altLang="zh-TW" dirty="0"/>
              <a:t>-</a:t>
            </a:r>
            <a:r>
              <a:rPr lang="zh-TW" altLang="en-US" dirty="0"/>
              <a:t>盒鬚圖</a:t>
            </a:r>
            <a:br>
              <a:rPr lang="zh-TW" altLang="en-US" dirty="0"/>
            </a:br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87EFF961-87EE-9E99-9AF7-A401F382C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8768" y="998193"/>
            <a:ext cx="4497341" cy="1888811"/>
          </a:xfrm>
        </p:spPr>
        <p:txBody>
          <a:bodyPr>
            <a:noAutofit/>
          </a:bodyPr>
          <a:lstStyle/>
          <a:p>
            <a:pPr>
              <a:buClr>
                <a:srgbClr val="0070C0"/>
              </a:buClr>
            </a:pPr>
            <a:r>
              <a:rPr lang="zh-TW" altLang="en-US" sz="1400" dirty="0"/>
              <a:t>趨勢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TW" altLang="en-US" sz="1400" dirty="0"/>
              <a:t>年初開盤價約 </a:t>
            </a:r>
            <a:r>
              <a:rPr lang="en-US" altLang="zh-TW" sz="1400" dirty="0"/>
              <a:t>58 USD</a:t>
            </a:r>
            <a:r>
              <a:rPr lang="zh-TW" altLang="en-US" sz="1400" dirty="0"/>
              <a:t>，整體呈現上升趨勢</a:t>
            </a:r>
            <a:endParaRPr lang="en-US" altLang="zh-TW" sz="1400" dirty="0"/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TW" sz="1400" dirty="0"/>
              <a:t>3 </a:t>
            </a:r>
            <a:r>
              <a:rPr lang="zh-TW" altLang="en-US" sz="1400" dirty="0"/>
              <a:t>月出現第一波高點約 </a:t>
            </a:r>
            <a:r>
              <a:rPr lang="en-US" altLang="zh-TW" sz="1400" dirty="0"/>
              <a:t>80 USD</a:t>
            </a:r>
            <a:r>
              <a:rPr lang="zh-TW" altLang="en-US" sz="1400" dirty="0"/>
              <a:t>，反映短期市場情緒推升</a:t>
            </a:r>
            <a:endParaRPr lang="en-US" altLang="zh-TW" sz="1400" dirty="0"/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TW" sz="1400" dirty="0"/>
              <a:t>10 </a:t>
            </a:r>
            <a:r>
              <a:rPr lang="zh-TW" altLang="en-US" sz="1400" dirty="0"/>
              <a:t>月達全年高點約 </a:t>
            </a:r>
            <a:r>
              <a:rPr lang="en-US" altLang="zh-TW" sz="1400" dirty="0"/>
              <a:t>85 USD</a:t>
            </a:r>
            <a:r>
              <a:rPr lang="zh-TW" altLang="en-US" sz="1400" dirty="0"/>
              <a:t>，顯示中期動能再度轉強年</a:t>
            </a:r>
            <a:endParaRPr lang="en-US" altLang="zh-TW" sz="1400" dirty="0"/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TW" altLang="en-US" sz="1400" dirty="0"/>
              <a:t>末回落至約 </a:t>
            </a:r>
            <a:r>
              <a:rPr lang="en-US" altLang="zh-TW" sz="1400" dirty="0"/>
              <a:t>65–70 USD </a:t>
            </a:r>
            <a:r>
              <a:rPr lang="zh-TW" altLang="en-US" sz="1400" dirty="0"/>
              <a:t>區間，趨勢轉為震盪整理</a:t>
            </a:r>
            <a:endParaRPr lang="en-US" altLang="zh-TW" sz="1400" dirty="0"/>
          </a:p>
        </p:txBody>
      </p:sp>
      <p:sp>
        <p:nvSpPr>
          <p:cNvPr id="10" name="內容版面配置區 7">
            <a:extLst>
              <a:ext uri="{FF2B5EF4-FFF2-40B4-BE49-F238E27FC236}">
                <a16:creationId xmlns:a16="http://schemas.microsoft.com/office/drawing/2014/main" id="{26D9E4F7-E665-7F21-79F8-CEDDAE45DB1A}"/>
              </a:ext>
            </a:extLst>
          </p:cNvPr>
          <p:cNvSpPr txBox="1">
            <a:spLocks/>
          </p:cNvSpPr>
          <p:nvPr/>
        </p:nvSpPr>
        <p:spPr>
          <a:xfrm>
            <a:off x="2098620" y="3984554"/>
            <a:ext cx="5076839" cy="1888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B050"/>
              </a:buClr>
            </a:pPr>
            <a:r>
              <a:rPr lang="zh-TW" altLang="en-US" sz="1400" dirty="0"/>
              <a:t>結論</a:t>
            </a:r>
            <a:endParaRPr lang="en-US" altLang="zh-TW" sz="1400" dirty="0"/>
          </a:p>
          <a:p>
            <a:pPr lvl="1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TW" altLang="en-US" sz="1400" dirty="0"/>
              <a:t>該標的呈現長期上升趨勢，但伴隨明顯區間震盪</a:t>
            </a:r>
            <a:endParaRPr lang="en-US" altLang="zh-TW" sz="1400" dirty="0"/>
          </a:p>
          <a:p>
            <a:pPr lvl="1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TW" altLang="en-US" sz="1400" dirty="0"/>
              <a:t>屬於「趨勢型 </a:t>
            </a:r>
            <a:r>
              <a:rPr lang="en-US" altLang="zh-TW" sz="1400" dirty="0"/>
              <a:t>+ </a:t>
            </a:r>
            <a:r>
              <a:rPr lang="zh-TW" altLang="en-US" sz="1400" dirty="0"/>
              <a:t>波動型並存市場」</a:t>
            </a:r>
            <a:endParaRPr lang="en-US" altLang="zh-TW" sz="1400" dirty="0"/>
          </a:p>
        </p:txBody>
      </p:sp>
      <p:sp>
        <p:nvSpPr>
          <p:cNvPr id="11" name="內容版面配置區 7">
            <a:extLst>
              <a:ext uri="{FF2B5EF4-FFF2-40B4-BE49-F238E27FC236}">
                <a16:creationId xmlns:a16="http://schemas.microsoft.com/office/drawing/2014/main" id="{C3E73EAC-7E21-189A-AB71-54C8631AF3FB}"/>
              </a:ext>
            </a:extLst>
          </p:cNvPr>
          <p:cNvSpPr txBox="1">
            <a:spLocks/>
          </p:cNvSpPr>
          <p:nvPr/>
        </p:nvSpPr>
        <p:spPr>
          <a:xfrm>
            <a:off x="7159672" y="3417502"/>
            <a:ext cx="4344940" cy="18888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dirty="0"/>
              <a:t>波動</a:t>
            </a:r>
            <a:endParaRPr lang="en-US" altLang="zh-TW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sz="1400" dirty="0"/>
              <a:t>股價主要落在 </a:t>
            </a:r>
            <a:r>
              <a:rPr lang="en-US" altLang="zh-TW" sz="1400" dirty="0"/>
              <a:t>60–85 USD </a:t>
            </a:r>
            <a:r>
              <a:rPr lang="zh-TW" altLang="en-US" sz="1400" dirty="0"/>
              <a:t>區間震盪</a:t>
            </a:r>
            <a:endParaRPr lang="en-US" altLang="zh-TW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1400" dirty="0"/>
              <a:t>7–8 </a:t>
            </a:r>
            <a:r>
              <a:rPr lang="zh-TW" altLang="en-US" sz="1400" dirty="0"/>
              <a:t>月出現明顯短期急跌，可能受市場不確定性或事件性因素影響</a:t>
            </a:r>
            <a:endParaRPr lang="en-US" altLang="zh-TW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sz="1400" dirty="0"/>
              <a:t>整體呈現「趨勢上升 </a:t>
            </a:r>
            <a:r>
              <a:rPr lang="en-US" altLang="zh-TW" sz="1400" dirty="0"/>
              <a:t>+ </a:t>
            </a:r>
            <a:r>
              <a:rPr lang="zh-TW" altLang="en-US" sz="1400" dirty="0"/>
              <a:t>高波動並存」特性</a:t>
            </a:r>
            <a:endParaRPr lang="en-US" altLang="zh-TW" sz="14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1FA44E1-4220-C0C1-50DB-AC0E86B09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051" y="1176698"/>
            <a:ext cx="4450269" cy="2661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6777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6D6E3F-673C-A401-C58D-55262B5FC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9031" y="389679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模型比較結果</a:t>
            </a:r>
            <a:br>
              <a:rPr lang="zh-TW" altLang="en-US" dirty="0"/>
            </a:br>
            <a:br>
              <a:rPr lang="zh-TW" altLang="en-US" dirty="0"/>
            </a:br>
            <a:endParaRPr lang="zh-TW" alt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7F245B0-1AB5-4968-33CD-0E491C3F5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9031" y="1193249"/>
            <a:ext cx="2428875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02013502-E9A9-D9E6-BC2E-5C7A5B3EA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8546" y="1193249"/>
            <a:ext cx="2495550" cy="191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3345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6D6E3F-673C-A401-C58D-55262B5FC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9031" y="389679"/>
            <a:ext cx="8911687" cy="1280890"/>
          </a:xfrm>
        </p:spPr>
        <p:txBody>
          <a:bodyPr>
            <a:normAutofit/>
          </a:bodyPr>
          <a:lstStyle/>
          <a:p>
            <a:r>
              <a:rPr lang="zh-TW" altLang="en-US" dirty="0"/>
              <a:t>模型預測結果視覺化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CA444E8-8C27-DBDE-C822-C9493ABE5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933" y="1332237"/>
            <a:ext cx="4848225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759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6D6E3F-673C-A401-C58D-55262B5FC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9031" y="389679"/>
            <a:ext cx="8911687" cy="1280890"/>
          </a:xfrm>
        </p:spPr>
        <p:txBody>
          <a:bodyPr>
            <a:normAutofit/>
          </a:bodyPr>
          <a:lstStyle/>
          <a:p>
            <a:r>
              <a:rPr lang="zh-TW" altLang="en-US" dirty="0"/>
              <a:t>短期預測效果檢驗圖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A7DEF193-B9D0-781F-77D6-FF57B9D87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013" y="1239125"/>
            <a:ext cx="4676775" cy="200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5066377"/>
      </p:ext>
    </p:extLst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57</TotalTime>
  <Words>665</Words>
  <Application>Microsoft Office PowerPoint</Application>
  <PresentationFormat>寬螢幕</PresentationFormat>
  <Paragraphs>85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Wingdings</vt:lpstr>
      <vt:lpstr>Wingdings 3</vt:lpstr>
      <vt:lpstr>絲縷</vt:lpstr>
      <vt:lpstr>Uber股價預測分析</vt:lpstr>
      <vt:lpstr>專案背景</vt:lpstr>
      <vt:lpstr>資料來源與內容</vt:lpstr>
      <vt:lpstr>資料前處理</vt:lpstr>
      <vt:lpstr>模型建立</vt:lpstr>
      <vt:lpstr>分析結果-開盤價</vt:lpstr>
      <vt:lpstr>分析結果-K 線圖 / 均線  /  成交量  </vt:lpstr>
      <vt:lpstr>分析結果-盒鬚圖 </vt:lpstr>
      <vt:lpstr>分析結果-盒鬚圖 </vt:lpstr>
      <vt:lpstr>模型比較結果  </vt:lpstr>
      <vt:lpstr>模型預測結果視覺化</vt:lpstr>
      <vt:lpstr>短期預測效果檢驗圖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粘婷婷 ting</dc:creator>
  <cp:lastModifiedBy>粘婷婷 ting</cp:lastModifiedBy>
  <cp:revision>1</cp:revision>
  <dcterms:created xsi:type="dcterms:W3CDTF">2026-05-03T07:31:46Z</dcterms:created>
  <dcterms:modified xsi:type="dcterms:W3CDTF">2026-05-16T04:28:46Z</dcterms:modified>
</cp:coreProperties>
</file>